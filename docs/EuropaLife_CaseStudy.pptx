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9FC3B3-D176-4C39-9D8A-3D74E7CFCE8C}" v="3" dt="2026-04-30T13:52:30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ropa Life project" userId="0000000000000000" providerId="LiveId" clId="{D880106B-C46A-4A02-AF21-CE0E86AA706F}"/>
    <pc:docChg chg="undo custSel modSld">
      <pc:chgData name="Europa Life project" userId="0000000000000000" providerId="LiveId" clId="{D880106B-C46A-4A02-AF21-CE0E86AA706F}" dt="2026-04-07T16:06:53.068" v="102" actId="1076"/>
      <pc:docMkLst>
        <pc:docMk/>
      </pc:docMkLst>
      <pc:sldChg chg="addSp delSp modSp mod">
        <pc:chgData name="Europa Life project" userId="0000000000000000" providerId="LiveId" clId="{D880106B-C46A-4A02-AF21-CE0E86AA706F}" dt="2026-04-07T16:06:53.068" v="102" actId="1076"/>
        <pc:sldMkLst>
          <pc:docMk/>
          <pc:sldMk cId="0" sldId="256"/>
        </pc:sldMkLst>
        <pc:spChg chg="mod">
          <ac:chgData name="Europa Life project" userId="0000000000000000" providerId="LiveId" clId="{D880106B-C46A-4A02-AF21-CE0E86AA706F}" dt="2026-04-07T15:14:17.426" v="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Europa Life project" userId="0000000000000000" providerId="LiveId" clId="{D880106B-C46A-4A02-AF21-CE0E86AA706F}" dt="2026-04-07T15:14:20.122" v="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Europa Life project" userId="0000000000000000" providerId="LiveId" clId="{D880106B-C46A-4A02-AF21-CE0E86AA706F}" dt="2026-04-07T16:04:09.786" v="31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Europa Life project" userId="0000000000000000" providerId="LiveId" clId="{D880106B-C46A-4A02-AF21-CE0E86AA706F}" dt="2026-04-07T16:05:33.143" v="91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Europa Life project" userId="0000000000000000" providerId="LiveId" clId="{D880106B-C46A-4A02-AF21-CE0E86AA706F}" dt="2026-04-07T16:06:43.120" v="99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Europa Life project" userId="0000000000000000" providerId="LiveId" clId="{D880106B-C46A-4A02-AF21-CE0E86AA706F}" dt="2026-04-07T16:06:46.032" v="100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Europa Life project" userId="0000000000000000" providerId="LiveId" clId="{D880106B-C46A-4A02-AF21-CE0E86AA706F}" dt="2026-04-07T16:06:25.891" v="96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Europa Life project" userId="0000000000000000" providerId="LiveId" clId="{D880106B-C46A-4A02-AF21-CE0E86AA706F}" dt="2026-04-07T16:06:17.845" v="94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Europa Life project" userId="0000000000000000" providerId="LiveId" clId="{D880106B-C46A-4A02-AF21-CE0E86AA706F}" dt="2026-04-07T16:06:15.311" v="93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Europa Life project" userId="0000000000000000" providerId="LiveId" clId="{D880106B-C46A-4A02-AF21-CE0E86AA706F}" dt="2026-04-07T16:06:12.477" v="92" actId="1076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Europa Life project" userId="0000000000000000" providerId="LiveId" clId="{D880106B-C46A-4A02-AF21-CE0E86AA706F}" dt="2026-04-07T16:04:02.644" v="30"/>
          <ac:spMkLst>
            <pc:docMk/>
            <pc:sldMk cId="0" sldId="256"/>
            <ac:spMk id="33" creationId="{D7945A41-0EE8-F9A9-CCAA-37068294C837}"/>
          </ac:spMkLst>
        </pc:spChg>
        <pc:cxnChg chg="mod">
          <ac:chgData name="Europa Life project" userId="0000000000000000" providerId="LiveId" clId="{D880106B-C46A-4A02-AF21-CE0E86AA706F}" dt="2026-04-07T16:06:30.525" v="97" actId="1076"/>
          <ac:cxnSpMkLst>
            <pc:docMk/>
            <pc:sldMk cId="0" sldId="256"/>
            <ac:cxnSpMk id="22" creationId="{00000000-0000-0000-0000-000000000000}"/>
          </ac:cxnSpMkLst>
        </pc:cxnChg>
        <pc:cxnChg chg="mod">
          <ac:chgData name="Europa Life project" userId="0000000000000000" providerId="LiveId" clId="{D880106B-C46A-4A02-AF21-CE0E86AA706F}" dt="2026-04-07T16:06:22.332" v="95" actId="1076"/>
          <ac:cxnSpMkLst>
            <pc:docMk/>
            <pc:sldMk cId="0" sldId="256"/>
            <ac:cxnSpMk id="23" creationId="{00000000-0000-0000-0000-000000000000}"/>
          </ac:cxnSpMkLst>
        </pc:cxnChg>
        <pc:cxnChg chg="mod">
          <ac:chgData name="Europa Life project" userId="0000000000000000" providerId="LiveId" clId="{D880106B-C46A-4A02-AF21-CE0E86AA706F}" dt="2026-04-07T16:06:48.426" v="101" actId="1076"/>
          <ac:cxnSpMkLst>
            <pc:docMk/>
            <pc:sldMk cId="0" sldId="256"/>
            <ac:cxnSpMk id="24" creationId="{00000000-0000-0000-0000-000000000000}"/>
          </ac:cxnSpMkLst>
        </pc:cxnChg>
        <pc:cxnChg chg="mod">
          <ac:chgData name="Europa Life project" userId="0000000000000000" providerId="LiveId" clId="{D880106B-C46A-4A02-AF21-CE0E86AA706F}" dt="2026-04-07T16:06:53.068" v="102" actId="1076"/>
          <ac:cxnSpMkLst>
            <pc:docMk/>
            <pc:sldMk cId="0" sldId="256"/>
            <ac:cxnSpMk id="25" creationId="{00000000-0000-0000-0000-000000000000}"/>
          </ac:cxnSpMkLst>
        </pc:cxnChg>
        <pc:cxnChg chg="mod">
          <ac:chgData name="Europa Life project" userId="0000000000000000" providerId="LiveId" clId="{D880106B-C46A-4A02-AF21-CE0E86AA706F}" dt="2026-04-07T16:04:31.051" v="32" actId="14100"/>
          <ac:cxnSpMkLst>
            <pc:docMk/>
            <pc:sldMk cId="0" sldId="256"/>
            <ac:cxnSpMk id="26" creationId="{00000000-0000-0000-0000-000000000000}"/>
          </ac:cxnSpMkLst>
        </pc:cxnChg>
        <pc:cxnChg chg="mod">
          <ac:chgData name="Europa Life project" userId="0000000000000000" providerId="LiveId" clId="{D880106B-C46A-4A02-AF21-CE0E86AA706F}" dt="2026-04-07T16:04:35.822" v="33" actId="14100"/>
          <ac:cxnSpMkLst>
            <pc:docMk/>
            <pc:sldMk cId="0" sldId="256"/>
            <ac:cxnSpMk id="27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800">
                <a:solidFill>
                  <a:srgbClr val="8298B0"/>
                </a:solidFill>
                <a:latin typeface="Calibri"/>
              </a:rPr>
              <a:t>Europa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98B0"/>
                </a:solidFill>
                <a:latin typeface="Calibri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548640"/>
            <a:ext cx="11247120" cy="0"/>
          </a:xfrm>
          <a:prstGeom prst="line">
            <a:avLst/>
          </a:prstGeom>
          <a:ln w="12700">
            <a:solidFill>
              <a:srgbClr val="1D3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19" y="758700"/>
            <a:ext cx="5714999" cy="3539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 dirty="0">
                <a:solidFill>
                  <a:srgbClr val="F5F8FC"/>
                </a:solidFill>
                <a:latin typeface="Calibri"/>
              </a:rPr>
              <a:t>Building a mission to search for life on Europa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59083"/>
            <a:ext cx="571500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59C8FF"/>
                </a:solidFill>
                <a:latin typeface="Calibri"/>
              </a:rPr>
              <a:t>AI-assisted data architecture, engineering intelligence, entity resolution, and trust-scored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338"/>
            <a:ext cx="448056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B2C1D1"/>
                </a:solidFill>
                <a:latin typeface="Calibri"/>
              </a:rPr>
              <a:t>Public case study artifact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917686"/>
            <a:ext cx="4800600" cy="2472472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0" bIns="0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980">
                <a:solidFill>
                  <a:srgbClr val="F5F8FC"/>
                </a:solidFill>
                <a:latin typeface="Calibri"/>
              </a:defRPr>
            </a:pPr>
            <a:r>
              <a:rPr lang="en-CA" sz="1600" dirty="0"/>
              <a:t>End-to-end data architecture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980">
                <a:solidFill>
                  <a:srgbClr val="F5F8FC"/>
                </a:solidFill>
                <a:latin typeface="Calibri"/>
              </a:defRPr>
            </a:pPr>
            <a:r>
              <a:rPr lang="en-CA" sz="1600" dirty="0"/>
              <a:t>Synthetic data generation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980">
                <a:solidFill>
                  <a:srgbClr val="F5F8FC"/>
                </a:solidFill>
                <a:latin typeface="Calibri"/>
              </a:defRPr>
            </a:pPr>
            <a:r>
              <a:rPr lang="en-CA" sz="1600" dirty="0"/>
              <a:t>Usage of local LLMs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980">
                <a:solidFill>
                  <a:srgbClr val="F5F8FC"/>
                </a:solidFill>
                <a:latin typeface="Calibri"/>
              </a:defRPr>
            </a:pPr>
            <a:r>
              <a:rPr sz="1600" dirty="0"/>
              <a:t>Crosswalk-style linkage, provenance, and trust scoring instead of black-box matching.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980">
                <a:solidFill>
                  <a:srgbClr val="F5F8FC"/>
                </a:solidFill>
                <a:latin typeface="Calibri"/>
              </a:defRPr>
            </a:pPr>
            <a:r>
              <a:rPr sz="1600" dirty="0"/>
              <a:t>Stakeholder-ready outputs that expose risk, evidence, and review points.</a:t>
            </a:r>
            <a:br>
              <a:rPr lang="en-CA" sz="1600" dirty="0"/>
            </a:br>
            <a:r>
              <a:rPr lang="en-US" sz="1600" dirty="0"/>
              <a:t>Multi-source document understanding across engineering, supplier, and test artifacts.</a:t>
            </a:r>
            <a:endParaRPr sz="1600" dirty="0"/>
          </a:p>
        </p:txBody>
      </p:sp>
      <p:sp>
        <p:nvSpPr>
          <p:cNvPr id="9" name="Rectangle 8"/>
          <p:cNvSpPr/>
          <p:nvPr/>
        </p:nvSpPr>
        <p:spPr>
          <a:xfrm>
            <a:off x="6263640" y="1165860"/>
            <a:ext cx="5394960" cy="4526280"/>
          </a:xfrm>
          <a:prstGeom prst="rect">
            <a:avLst/>
          </a:prstGeom>
          <a:solidFill>
            <a:srgbClr val="0B223D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80277" y="1499615"/>
            <a:ext cx="1188720" cy="530352"/>
          </a:xfrm>
          <a:prstGeom prst="rect">
            <a:avLst/>
          </a:prstGeom>
          <a:solidFill>
            <a:srgbClr val="103055"/>
          </a:solidFill>
          <a:ln w="12700">
            <a:solidFill>
              <a:srgbClr val="1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0990" y="1598476"/>
            <a:ext cx="11155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 dirty="0">
                <a:solidFill>
                  <a:srgbClr val="FFFFFF"/>
                </a:solidFill>
                <a:latin typeface="Calibri"/>
              </a:rPr>
              <a:t>Source
packages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36192"/>
            <a:ext cx="1234440" cy="530352"/>
          </a:xfrm>
          <a:prstGeom prst="rect">
            <a:avLst/>
          </a:prstGeom>
          <a:solidFill>
            <a:srgbClr val="103055"/>
          </a:solidFill>
          <a:ln w="12700">
            <a:solidFill>
              <a:srgbClr val="1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28432" y="1564131"/>
            <a:ext cx="116128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 dirty="0">
                <a:solidFill>
                  <a:srgbClr val="FFFFFF"/>
                </a:solidFill>
                <a:latin typeface="Calibri"/>
              </a:rPr>
              <a:t>Extraction
+ parsing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10927" y="1511554"/>
            <a:ext cx="1234440" cy="530352"/>
          </a:xfrm>
          <a:prstGeom prst="rect">
            <a:avLst/>
          </a:prstGeom>
          <a:solidFill>
            <a:srgbClr val="103055"/>
          </a:solidFill>
          <a:ln w="12700">
            <a:solidFill>
              <a:srgbClr val="1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47503" y="1598476"/>
            <a:ext cx="116128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 dirty="0">
                <a:solidFill>
                  <a:srgbClr val="FFFFFF"/>
                </a:solidFill>
                <a:latin typeface="Calibri"/>
              </a:rPr>
              <a:t>Canonical
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743200"/>
            <a:ext cx="1325880" cy="530352"/>
          </a:xfrm>
          <a:prstGeom prst="rect">
            <a:avLst/>
          </a:prstGeom>
          <a:solidFill>
            <a:srgbClr val="A16CF4"/>
          </a:solidFill>
          <a:ln w="12700">
            <a:solidFill>
              <a:srgbClr val="A16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23176" y="2816352"/>
            <a:ext cx="1252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Calibri"/>
              </a:rPr>
              <a:t>Resolver
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2743200"/>
            <a:ext cx="1325880" cy="530352"/>
          </a:xfrm>
          <a:prstGeom prst="rect">
            <a:avLst/>
          </a:prstGeom>
          <a:solidFill>
            <a:srgbClr val="F2C261"/>
          </a:solidFill>
          <a:ln w="12700">
            <a:solidFill>
              <a:srgbClr val="F2C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26296" y="2816352"/>
            <a:ext cx="1252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4A3808"/>
                </a:solidFill>
                <a:latin typeface="Calibri"/>
              </a:rPr>
              <a:t>Auditor /
judge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069080"/>
            <a:ext cx="1920240" cy="566928"/>
          </a:xfrm>
          <a:prstGeom prst="rect">
            <a:avLst/>
          </a:prstGeom>
          <a:solidFill>
            <a:srgbClr val="2CBE74"/>
          </a:solidFill>
          <a:ln w="12700">
            <a:solidFill>
              <a:srgbClr val="2CB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0415" y="4142232"/>
            <a:ext cx="1847088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80" b="1" i="0">
                <a:solidFill>
                  <a:srgbClr val="FFFFFF"/>
                </a:solidFill>
                <a:latin typeface="Calibri"/>
              </a:rPr>
              <a:t>Truth, discovery
&amp; trust report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36992" y="1776730"/>
            <a:ext cx="219455" cy="0"/>
          </a:xfrm>
          <a:prstGeom prst="line">
            <a:avLst/>
          </a:prstGeom>
          <a:ln w="15875">
            <a:solidFill>
              <a:srgbClr val="7A9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05608" y="1790217"/>
            <a:ext cx="256032" cy="0"/>
          </a:xfrm>
          <a:prstGeom prst="line">
            <a:avLst/>
          </a:prstGeom>
          <a:ln w="15875">
            <a:solidFill>
              <a:srgbClr val="7A9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98526" y="2105347"/>
            <a:ext cx="0" cy="676657"/>
          </a:xfrm>
          <a:prstGeom prst="line">
            <a:avLst/>
          </a:prstGeom>
          <a:ln w="15875">
            <a:solidFill>
              <a:srgbClr val="7A9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967406" y="2103338"/>
            <a:ext cx="0" cy="676657"/>
          </a:xfrm>
          <a:prstGeom prst="line">
            <a:avLst/>
          </a:prstGeom>
          <a:ln w="15875">
            <a:solidFill>
              <a:srgbClr val="7A9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</p:cNvCxnSpPr>
          <p:nvPr/>
        </p:nvCxnSpPr>
        <p:spPr>
          <a:xfrm>
            <a:off x="8046720" y="3273552"/>
            <a:ext cx="594360" cy="795528"/>
          </a:xfrm>
          <a:prstGeom prst="line">
            <a:avLst/>
          </a:prstGeom>
          <a:ln w="15875">
            <a:solidFill>
              <a:srgbClr val="7A9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  <a:stCxn id="18" idx="2"/>
          </p:cNvCxnSpPr>
          <p:nvPr/>
        </p:nvCxnSpPr>
        <p:spPr>
          <a:xfrm flipH="1">
            <a:off x="9098280" y="3273552"/>
            <a:ext cx="754380" cy="795528"/>
          </a:xfrm>
          <a:prstGeom prst="line">
            <a:avLst/>
          </a:prstGeom>
          <a:ln w="15875">
            <a:solidFill>
              <a:srgbClr val="7A9A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098280" y="1188720"/>
            <a:ext cx="173736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 i="0">
                <a:solidFill>
                  <a:srgbClr val="8699AE"/>
                </a:solidFill>
                <a:latin typeface="Calibri"/>
              </a:rPr>
              <a:t>entity IDs, aliases, codes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87168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 i="0">
                <a:solidFill>
                  <a:srgbClr val="8699AE"/>
                </a:solidFill>
                <a:latin typeface="Calibri"/>
              </a:rPr>
              <a:t>review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4945221"/>
            <a:ext cx="4828032" cy="12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CA" sz="810" b="0" i="0" dirty="0">
                <a:solidFill>
                  <a:srgbClr val="B2C1D1"/>
                </a:solidFill>
                <a:latin typeface="Calibri"/>
              </a:rPr>
              <a:t>T</a:t>
            </a:r>
            <a:r>
              <a:rPr sz="810" b="0" i="0" dirty="0">
                <a:solidFill>
                  <a:srgbClr val="B2C1D1"/>
                </a:solidFill>
                <a:latin typeface="Calibri"/>
              </a:rPr>
              <a:t>ruth, discovery, provenance, method distribution, and audit findings surfaced in one report.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945A41-0EE8-F9A9-CCAA-37068294C837}"/>
              </a:ext>
            </a:extLst>
          </p:cNvPr>
          <p:cNvSpPr txBox="1"/>
          <p:nvPr/>
        </p:nvSpPr>
        <p:spPr>
          <a:xfrm>
            <a:off x="502920" y="2425165"/>
            <a:ext cx="448056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CA" sz="1200" i="1" dirty="0">
                <a:solidFill>
                  <a:srgbClr val="B2C1D1"/>
                </a:solidFill>
              </a:rPr>
              <a:t>https://github.com/r-moric/Europa-Life</a:t>
            </a:r>
            <a:endParaRPr sz="1200" b="0" i="1" dirty="0">
              <a:solidFill>
                <a:srgbClr val="B2C1D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800">
                <a:solidFill>
                  <a:srgbClr val="8298B0"/>
                </a:solidFill>
                <a:latin typeface="Calibri"/>
              </a:rPr>
              <a:t>Europa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98B0"/>
                </a:solidFill>
                <a:latin typeface="Calibri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548640"/>
            <a:ext cx="11247120" cy="0"/>
          </a:xfrm>
          <a:prstGeom prst="line">
            <a:avLst/>
          </a:prstGeom>
          <a:ln w="12700">
            <a:solidFill>
              <a:srgbClr val="1D3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71323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5F8FC"/>
                </a:solidFill>
                <a:latin typeface="Calibri"/>
              </a:rPr>
              <a:t>What the architecture has to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B2C1D1"/>
                </a:solidFill>
                <a:latin typeface="Calibri"/>
              </a:rPr>
              <a:t>The hard part is not extraction alone. It is building trustworthy linkage across noisy, incomplete, and differently coded sources.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154680" cy="4160520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673352"/>
            <a:ext cx="22860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9C8FF"/>
                </a:solidFill>
                <a:latin typeface="Calibri"/>
              </a:rPr>
              <a:t>Source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75104"/>
            <a:ext cx="2788920" cy="1605568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0" bIns="0">
            <a:spAutoFit/>
          </a:bodyPr>
          <a:lstStyle/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Engineering specs, supplier quotes, test reports, assemblies, and supply references do not present entities in one stable form.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The same thing can appear as exact part number, supplier code, alias, short name, or descriptive phrase.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Downstream users need an answer they can trust, not just a model guess.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7368" y="1463040"/>
            <a:ext cx="3154680" cy="4160520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33672" y="1673352"/>
            <a:ext cx="22860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9C8FF"/>
                </a:solidFill>
                <a:latin typeface="Calibri"/>
              </a:rPr>
              <a:t>Control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1975104"/>
            <a:ext cx="2788920" cy="1790234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0" bIns="0">
            <a:spAutoFit/>
          </a:bodyPr>
          <a:lstStyle/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Canonical IDs and crosswalk-style mappings separate identity from how documents mention it.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Resolution methods are retained so exact-code matches can be distinguished from weaker fallbacks.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Provenance and auditor findings make uncertainty visible before anyone treats the output as authoritative.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71816" y="1463040"/>
            <a:ext cx="3154680" cy="4160520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1673352"/>
            <a:ext cx="22860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9C8FF"/>
                </a:solidFill>
                <a:latin typeface="Calibri"/>
              </a:rPr>
              <a:t>Architecture posture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1975104"/>
            <a:ext cx="2788920" cy="1420902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0" bIns="0">
            <a:spAutoFit/>
          </a:bodyPr>
          <a:lstStyle/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/>
              <a:t>Instrument the pipeline so quality, trust, and risk are measurable.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/>
              <a:t>Expose decision paths clearly enough for stakeholder review.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/>
              <a:t>Create outputs that can support data products, governance discussions, and follow-on improvement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97880"/>
            <a:ext cx="108813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1">
                <a:solidFill>
                  <a:srgbClr val="B2C1D1"/>
                </a:solidFill>
                <a:latin typeface="Calibri"/>
              </a:rPr>
              <a:t>This is the same mindset used in complex data architecture work: make ambiguity explicit, put linkage under control, and keep the path from raw source to reusable data asset explainable.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800">
                <a:solidFill>
                  <a:srgbClr val="8298B0"/>
                </a:solidFill>
                <a:latin typeface="Calibri"/>
              </a:rPr>
              <a:t>Europa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98B0"/>
                </a:solidFill>
                <a:latin typeface="Calibri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548640"/>
            <a:ext cx="11247120" cy="0"/>
          </a:xfrm>
          <a:prstGeom prst="line">
            <a:avLst/>
          </a:prstGeom>
          <a:ln w="12700">
            <a:solidFill>
              <a:srgbClr val="1D3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71323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5F8FC"/>
                </a:solidFill>
                <a:latin typeface="Calibri"/>
              </a:rPr>
              <a:t>Quality and trust are measured, not implied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B2C1D1"/>
                </a:solidFill>
                <a:latin typeface="Calibri"/>
              </a:rPr>
              <a:t>The </a:t>
            </a:r>
            <a:r>
              <a:rPr lang="en-CA" sz="1050" b="0" i="0" dirty="0">
                <a:solidFill>
                  <a:srgbClr val="B2C1D1"/>
                </a:solidFill>
                <a:latin typeface="Calibri"/>
              </a:rPr>
              <a:t>final</a:t>
            </a:r>
            <a:r>
              <a:rPr sz="1050" b="0" i="0" dirty="0">
                <a:solidFill>
                  <a:srgbClr val="B2C1D1"/>
                </a:solidFill>
                <a:latin typeface="Calibri"/>
              </a:rPr>
              <a:t> report exposes both strengths and gaps</a:t>
            </a:r>
            <a:r>
              <a:rPr lang="en-CA" sz="1050" b="0" i="0" dirty="0">
                <a:solidFill>
                  <a:srgbClr val="B2C1D1"/>
                </a:solidFill>
                <a:latin typeface="Calibri"/>
              </a:rPr>
              <a:t>,</a:t>
            </a:r>
            <a:r>
              <a:rPr sz="1050" b="0" i="0" dirty="0">
                <a:solidFill>
                  <a:srgbClr val="B2C1D1"/>
                </a:solidFill>
                <a:latin typeface="Calibri"/>
              </a:rPr>
              <a:t> so the case study reads like an architectural control plane, not a vanity demo.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755648" cy="749808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664207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1" i="0">
                <a:solidFill>
                  <a:srgbClr val="A6B5C6"/>
                </a:solidFill>
                <a:latin typeface="Calibri"/>
              </a:rPr>
              <a:t>RESOLVED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1664207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59C8FF"/>
                </a:solidFill>
                <a:latin typeface="Calibri"/>
              </a:rPr>
              <a:t>42.9%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481328"/>
            <a:ext cx="1755648" cy="749808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1554480"/>
            <a:ext cx="1664207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1" i="0">
                <a:solidFill>
                  <a:srgbClr val="A6B5C6"/>
                </a:solidFill>
                <a:latin typeface="Calibri"/>
              </a:rPr>
              <a:t>WEAK 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764792"/>
            <a:ext cx="1664207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BD98A"/>
                </a:solidFill>
                <a:latin typeface="Calibri"/>
              </a:rPr>
              <a:t>1.8%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481328"/>
            <a:ext cx="1755648" cy="749808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1664207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1" i="0">
                <a:solidFill>
                  <a:srgbClr val="A6B5C6"/>
                </a:solidFill>
                <a:latin typeface="Calibri"/>
              </a:rPr>
              <a:t>COMPONENT MATCH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64792"/>
            <a:ext cx="1664207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59C8FF"/>
                </a:solidFill>
                <a:latin typeface="Calibri"/>
              </a:rPr>
              <a:t>90.2%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481328"/>
            <a:ext cx="1755648" cy="749808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1664207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1" i="0">
                <a:solidFill>
                  <a:srgbClr val="A6B5C6"/>
                </a:solidFill>
                <a:latin typeface="Calibri"/>
              </a:rPr>
              <a:t>SUPPLY MATCH AVG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64792"/>
            <a:ext cx="1664207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59C8FF"/>
                </a:solidFill>
                <a:latin typeface="Calibri"/>
              </a:rPr>
              <a:t>94.7%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1481328"/>
            <a:ext cx="1755648" cy="749808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554480"/>
            <a:ext cx="1664207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1" i="0">
                <a:solidFill>
                  <a:srgbClr val="A6B5C6"/>
                </a:solidFill>
                <a:latin typeface="Calibri"/>
              </a:rPr>
              <a:t>AUDITOR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64792"/>
            <a:ext cx="1664207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5C45D"/>
                </a:solidFill>
                <a:latin typeface="Calibr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04120" y="1481328"/>
            <a:ext cx="1755648" cy="749808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49840" y="1554480"/>
            <a:ext cx="1664207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1" i="0">
                <a:solidFill>
                  <a:srgbClr val="A6B5C6"/>
                </a:solidFill>
                <a:latin typeface="Calibri"/>
              </a:rPr>
              <a:t>CONFLICT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764792"/>
            <a:ext cx="1664207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6C6C"/>
                </a:solidFill>
                <a:latin typeface="Calibri"/>
              </a:rPr>
              <a:t>6448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487168"/>
            <a:ext cx="5650992" cy="2926080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2697480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9C8FF"/>
                </a:solidFill>
                <a:latin typeface="Calibri"/>
              </a:rPr>
              <a:t>Category match rates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3072384"/>
            <a:ext cx="0" cy="1600199"/>
          </a:xfrm>
          <a:prstGeom prst="line">
            <a:avLst/>
          </a:prstGeom>
          <a:ln w="12700">
            <a:solidFill>
              <a:srgbClr val="3557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" y="4672583"/>
            <a:ext cx="5010912" cy="0"/>
          </a:xfrm>
          <a:prstGeom prst="line">
            <a:avLst/>
          </a:prstGeom>
          <a:ln w="12700">
            <a:solidFill>
              <a:srgbClr val="3557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" y="3472434"/>
            <a:ext cx="5010912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" y="3872483"/>
            <a:ext cx="5010912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" y="4272533"/>
            <a:ext cx="5010912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" y="4672583"/>
            <a:ext cx="5010912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215054" y="3195827"/>
            <a:ext cx="651418" cy="1476756"/>
          </a:xfrm>
          <a:prstGeom prst="rect">
            <a:avLst/>
          </a:prstGeom>
          <a:solidFill>
            <a:srgbClr val="7EC7FF"/>
          </a:solidFill>
          <a:ln w="6350">
            <a:solidFill>
              <a:srgbClr val="7E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78478" y="3031235"/>
            <a:ext cx="72457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709159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PART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7782" y="3149193"/>
            <a:ext cx="651418" cy="1523390"/>
          </a:xfrm>
          <a:prstGeom prst="rect">
            <a:avLst/>
          </a:prstGeom>
          <a:solidFill>
            <a:srgbClr val="7EC7FF"/>
          </a:solidFill>
          <a:ln w="6350">
            <a:solidFill>
              <a:srgbClr val="7E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31206" y="2984601"/>
            <a:ext cx="72457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7128" y="4709159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SUPPLY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20510" y="3118103"/>
            <a:ext cx="651418" cy="1554480"/>
          </a:xfrm>
          <a:prstGeom prst="rect">
            <a:avLst/>
          </a:prstGeom>
          <a:solidFill>
            <a:srgbClr val="7EC7FF"/>
          </a:solidFill>
          <a:ln w="6350">
            <a:solidFill>
              <a:srgbClr val="7E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83934" y="2953511"/>
            <a:ext cx="72457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9856" y="4709159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SUPPLIER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73238" y="3149193"/>
            <a:ext cx="651418" cy="1523390"/>
          </a:xfrm>
          <a:prstGeom prst="rect">
            <a:avLst/>
          </a:prstGeom>
          <a:solidFill>
            <a:srgbClr val="7EC7FF"/>
          </a:solidFill>
          <a:ln w="6350">
            <a:solidFill>
              <a:srgbClr val="7E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36662" y="2984601"/>
            <a:ext cx="72457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98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2584" y="4709159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ASSEMBLY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2487168"/>
            <a:ext cx="5166360" cy="2926080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2697480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59C8FF"/>
                </a:solidFill>
                <a:latin typeface="Calibri"/>
              </a:rPr>
              <a:t>Executive readout from the report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3035808"/>
            <a:ext cx="658368" cy="292608"/>
          </a:xfrm>
          <a:prstGeom prst="rect">
            <a:avLst/>
          </a:prstGeom>
          <a:solidFill>
            <a:srgbClr val="FF6C6C"/>
          </a:solidFill>
          <a:ln w="12700"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3108960"/>
            <a:ext cx="65836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3017520"/>
            <a:ext cx="3886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F5F8FC"/>
                </a:solidFill>
                <a:latin typeface="Calibri"/>
              </a:rPr>
              <a:t>Too many mentions remain unresolved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321868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B2C1D1"/>
                </a:solidFill>
                <a:latin typeface="Calibri"/>
              </a:rPr>
              <a:t>Tighten extraction noise and push more weak cases through resolver review.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3822191"/>
            <a:ext cx="658368" cy="292608"/>
          </a:xfrm>
          <a:prstGeom prst="rect">
            <a:avLst/>
          </a:prstGeom>
          <a:solidFill>
            <a:srgbClr val="FF6C6C"/>
          </a:solidFill>
          <a:ln w="12700"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37960" y="3895344"/>
            <a:ext cx="65836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803904"/>
            <a:ext cx="3886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F5F8FC"/>
                </a:solidFill>
                <a:latin typeface="Calibri"/>
              </a:rPr>
              <a:t>Exact-code evidence is 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400507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B2C1D1"/>
                </a:solidFill>
                <a:latin typeface="Calibri"/>
              </a:rPr>
              <a:t>Increase part-number and supply-code coverage in docs or reduce reliance on fuzzy fallback.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4608576"/>
            <a:ext cx="658368" cy="292608"/>
          </a:xfrm>
          <a:prstGeom prst="rect">
            <a:avLst/>
          </a:prstGeom>
          <a:solidFill>
            <a:srgbClr val="F5C45D"/>
          </a:solidFill>
          <a:ln w="12700">
            <a:solidFill>
              <a:srgbClr val="F5C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37960" y="4681728"/>
            <a:ext cx="658368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4A3808"/>
                </a:solidFill>
                <a:latin typeface="Calibri"/>
              </a:rPr>
              <a:t>WARN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4590288"/>
            <a:ext cx="3886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 i="0">
                <a:solidFill>
                  <a:srgbClr val="F5F8FC"/>
                </a:solidFill>
                <a:latin typeface="Calibri"/>
              </a:rPr>
              <a:t>Auditor identified flagged cases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479145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B2C1D1"/>
                </a:solidFill>
                <a:latin typeface="Calibri"/>
              </a:rPr>
              <a:t>Review the latest audit findings before presenting the run publicly.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800">
                <a:solidFill>
                  <a:srgbClr val="8298B0"/>
                </a:solidFill>
                <a:latin typeface="Calibri"/>
              </a:rPr>
              <a:t>Europa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98B0"/>
                </a:solidFill>
                <a:latin typeface="Calibri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548640"/>
            <a:ext cx="11247120" cy="0"/>
          </a:xfrm>
          <a:prstGeom prst="line">
            <a:avLst/>
          </a:prstGeom>
          <a:ln w="12700">
            <a:solidFill>
              <a:srgbClr val="1D3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71323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5F8FC"/>
                </a:solidFill>
                <a:latin typeface="Calibri"/>
              </a:rPr>
              <a:t>Explainable linkage comes from multiple resolution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B2C1D1"/>
                </a:solidFill>
                <a:latin typeface="Calibri"/>
              </a:rPr>
              <a:t>The report preserves how an entity was resolved so exact-code evidence can be separated from fallback or model-assisted resolution.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532120" cy="4434840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82496"/>
            <a:ext cx="27432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59C8FF"/>
                </a:solidFill>
                <a:latin typeface="Calibri"/>
              </a:rPr>
              <a:t>Top resolution methods in the run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029968"/>
            <a:ext cx="0" cy="2990088"/>
          </a:xfrm>
          <a:prstGeom prst="line">
            <a:avLst/>
          </a:prstGeom>
          <a:ln w="12700">
            <a:solidFill>
              <a:srgbClr val="3557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5020056"/>
            <a:ext cx="4892040" cy="0"/>
          </a:xfrm>
          <a:prstGeom prst="line">
            <a:avLst/>
          </a:prstGeom>
          <a:ln w="12700">
            <a:solidFill>
              <a:srgbClr val="3557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2777490"/>
            <a:ext cx="4892040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3525012"/>
            <a:ext cx="4892040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" y="4272534"/>
            <a:ext cx="4892040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" y="5020056"/>
            <a:ext cx="4892040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110081" y="2313200"/>
            <a:ext cx="423976" cy="2706855"/>
          </a:xfrm>
          <a:prstGeom prst="rect">
            <a:avLst/>
          </a:prstGeom>
          <a:solidFill>
            <a:srgbClr val="59C8FF"/>
          </a:solidFill>
          <a:ln w="6350">
            <a:solidFill>
              <a:srgbClr val="59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3505" y="2148608"/>
            <a:ext cx="49712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1379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56632"/>
            <a:ext cx="8153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LLM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5421" y="3192584"/>
            <a:ext cx="423976" cy="1827471"/>
          </a:xfrm>
          <a:prstGeom prst="rect">
            <a:avLst/>
          </a:prstGeom>
          <a:solidFill>
            <a:srgbClr val="B587FF"/>
          </a:solidFill>
          <a:ln w="6350">
            <a:solidFill>
              <a:srgbClr val="B5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88845" y="3027992"/>
            <a:ext cx="49712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931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9740" y="5056632"/>
            <a:ext cx="8153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Direct
part #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0761" y="3905121"/>
            <a:ext cx="423976" cy="1114934"/>
          </a:xfrm>
          <a:prstGeom prst="rect">
            <a:avLst/>
          </a:prstGeom>
          <a:solidFill>
            <a:srgbClr val="59C8FF"/>
          </a:solidFill>
          <a:ln w="6350">
            <a:solidFill>
              <a:srgbClr val="59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04185" y="3740529"/>
            <a:ext cx="49712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568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5080" y="5056632"/>
            <a:ext cx="8153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Supplier
part #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56101" y="4323222"/>
            <a:ext cx="423976" cy="696833"/>
          </a:xfrm>
          <a:prstGeom prst="rect">
            <a:avLst/>
          </a:prstGeom>
          <a:solidFill>
            <a:srgbClr val="B587FF"/>
          </a:solidFill>
          <a:ln w="6350">
            <a:solidFill>
              <a:srgbClr val="B5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19525" y="4158630"/>
            <a:ext cx="49712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355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0420" y="5056632"/>
            <a:ext cx="8153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Direct
supply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1441" y="4334999"/>
            <a:ext cx="423976" cy="685056"/>
          </a:xfrm>
          <a:prstGeom prst="rect">
            <a:avLst/>
          </a:prstGeom>
          <a:solidFill>
            <a:srgbClr val="59C8FF"/>
          </a:solidFill>
          <a:ln w="6350">
            <a:solidFill>
              <a:srgbClr val="59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34865" y="4170407"/>
            <a:ext cx="49712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349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5760" y="5056632"/>
            <a:ext cx="8153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Name
fallback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86781" y="4501847"/>
            <a:ext cx="423976" cy="518208"/>
          </a:xfrm>
          <a:prstGeom prst="rect">
            <a:avLst/>
          </a:prstGeom>
          <a:solidFill>
            <a:srgbClr val="B587FF"/>
          </a:solidFill>
          <a:ln w="6350">
            <a:solidFill>
              <a:srgbClr val="B5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50205" y="4337255"/>
            <a:ext cx="49712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264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1100" y="5056632"/>
            <a:ext cx="8153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Part
alias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6208" y="1463040"/>
            <a:ext cx="5303520" cy="1828800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19088" y="1682496"/>
            <a:ext cx="329184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59C8FF"/>
                </a:solidFill>
                <a:latin typeface="Calibri"/>
              </a:rPr>
              <a:t>What the method stack says architecturally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1938528"/>
            <a:ext cx="4828032" cy="1078992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0" bIns="0">
            <a:spAutoFit/>
          </a:bodyPr>
          <a:lstStyle/>
          <a:p>
            <a:pPr>
              <a:spcAft>
                <a:spcPts val="500"/>
              </a:spcAft>
              <a:defRPr sz="819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Exact identifiers remain first-class evidence wherever they are available.</a:t>
            </a:r>
          </a:p>
          <a:p>
            <a:pPr>
              <a:spcAft>
                <a:spcPts val="500"/>
              </a:spcAft>
              <a:defRPr sz="819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Supplier codes and aliases act like crosswalk layers between source language and canonical identity.</a:t>
            </a:r>
          </a:p>
          <a:p>
            <a:pPr>
              <a:spcAft>
                <a:spcPts val="500"/>
              </a:spcAft>
              <a:defRPr sz="819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Model-assisted resolution is visible, countable, and reviewable rather than buried inside a black box.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3547872"/>
            <a:ext cx="5303520" cy="2350008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19087" y="3767328"/>
            <a:ext cx="4060653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59C8FF"/>
                </a:solidFill>
                <a:latin typeface="Calibri"/>
              </a:rPr>
              <a:t>Three example outcomes from the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968496"/>
            <a:ext cx="157276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A6B5C6"/>
                </a:solidFill>
                <a:latin typeface="Calibri"/>
              </a:rPr>
              <a:t>Doc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01583" y="3968496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A6B5C6"/>
                </a:solidFill>
                <a:latin typeface="Calibri"/>
              </a:rPr>
              <a:t>Mention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3968496"/>
            <a:ext cx="786384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A6B5C6"/>
                </a:solidFill>
                <a:latin typeface="Calibri"/>
              </a:rPr>
              <a:t>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30384" y="3968496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A6B5C6"/>
                </a:solidFill>
                <a:latin typeface="Calibri"/>
              </a:rPr>
              <a:t>Method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3968496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 i="0">
                <a:solidFill>
                  <a:srgbClr val="A6B5C6"/>
                </a:solidFill>
                <a:latin typeface="Calibri"/>
              </a:rPr>
              <a:t>Prov.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0" y="4160520"/>
            <a:ext cx="4937760" cy="0"/>
          </a:xfrm>
          <a:prstGeom prst="line">
            <a:avLst/>
          </a:prstGeom>
          <a:ln w="7620">
            <a:solidFill>
              <a:srgbClr val="20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19088" y="4206240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F5F8FC"/>
                </a:solidFill>
                <a:latin typeface="Calibri"/>
              </a:rPr>
              <a:t>PKG-023_ENGINEERING_SPEC_01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3" y="420624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F5F8FC"/>
                </a:solidFill>
                <a:latin typeface="Calibri"/>
              </a:rPr>
              <a:t>V-4-CMP-0200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0848" y="4206240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1" i="0">
                <a:solidFill>
                  <a:srgbClr val="3BD98A"/>
                </a:solidFill>
                <a:latin typeface="Calibri"/>
              </a:rPr>
              <a:t>CORRECT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0384" y="420624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0" i="0">
                <a:solidFill>
                  <a:srgbClr val="F5F8FC"/>
                </a:solidFill>
                <a:latin typeface="Calibri"/>
              </a:rPr>
              <a:t>SUPPLIER_PART_NUMBER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4206240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1" i="0">
                <a:solidFill>
                  <a:srgbClr val="59C8FF"/>
                </a:solidFill>
                <a:latin typeface="Calibri"/>
              </a:rPr>
              <a:t>STRONG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00800" y="4599432"/>
            <a:ext cx="4937760" cy="0"/>
          </a:xfrm>
          <a:prstGeom prst="line">
            <a:avLst/>
          </a:prstGeom>
          <a:ln w="7620">
            <a:solidFill>
              <a:srgbClr val="20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19088" y="4645152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F5F8FC"/>
                </a:solidFill>
                <a:latin typeface="Calibri"/>
              </a:rPr>
              <a:t>PKG-048_SUPPLIER_QUOTE_02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01583" y="464515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F5F8FC"/>
                </a:solidFill>
                <a:latin typeface="Calibri"/>
              </a:rPr>
              <a:t>V-1-CMP-0241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0848" y="4645152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1" i="0">
                <a:solidFill>
                  <a:srgbClr val="3BD98A"/>
                </a:solidFill>
                <a:latin typeface="Calibri"/>
              </a:rPr>
              <a:t>CORRECT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30384" y="464515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0" i="0">
                <a:solidFill>
                  <a:srgbClr val="F5F8FC"/>
                </a:solidFill>
                <a:latin typeface="Calibri"/>
              </a:rPr>
              <a:t>SUPPLIER_PART_NUMBER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27080" y="4645152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1" i="0">
                <a:solidFill>
                  <a:srgbClr val="59C8FF"/>
                </a:solidFill>
                <a:latin typeface="Calibri"/>
              </a:rPr>
              <a:t>STRONG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00800" y="5038344"/>
            <a:ext cx="4937760" cy="0"/>
          </a:xfrm>
          <a:prstGeom prst="line">
            <a:avLst/>
          </a:prstGeom>
          <a:ln w="7620">
            <a:solidFill>
              <a:srgbClr val="20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19088" y="5084064"/>
            <a:ext cx="15727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F5F8FC"/>
                </a:solidFill>
                <a:latin typeface="Calibri"/>
              </a:rPr>
              <a:t>PKG-034_TEST_REPORT_05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01583" y="50840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>
                <a:solidFill>
                  <a:srgbClr val="F5F8FC"/>
                </a:solidFill>
                <a:latin typeface="Calibri"/>
              </a:rPr>
              <a:t>Test Report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0848" y="5084064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1" i="0">
                <a:solidFill>
                  <a:srgbClr val="FF6C6C"/>
                </a:solidFill>
                <a:latin typeface="Calibri"/>
              </a:rPr>
              <a:t>UNRESOLVED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30384" y="50840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0" i="0">
                <a:solidFill>
                  <a:srgbClr val="F5F8FC"/>
                </a:solidFill>
                <a:latin typeface="Calibri"/>
              </a:rP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27080" y="5084064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1" i="0">
                <a:solidFill>
                  <a:srgbClr val="FF6C6C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800">
                <a:solidFill>
                  <a:srgbClr val="8298B0"/>
                </a:solidFill>
                <a:latin typeface="Calibri"/>
              </a:rPr>
              <a:t>Europa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98B0"/>
                </a:solidFill>
                <a:latin typeface="Calibri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548640"/>
            <a:ext cx="11247120" cy="0"/>
          </a:xfrm>
          <a:prstGeom prst="line">
            <a:avLst/>
          </a:prstGeom>
          <a:ln w="12700">
            <a:solidFill>
              <a:srgbClr val="1D3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71323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5F8FC"/>
                </a:solidFill>
                <a:latin typeface="Calibri"/>
              </a:rPr>
              <a:t>Governance posture: surface risk before downstream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B2C1D1"/>
                </a:solidFill>
                <a:latin typeface="Calibri"/>
              </a:rPr>
              <a:t>The </a:t>
            </a:r>
            <a:r>
              <a:rPr lang="en-CA" sz="1050" b="0" i="0" dirty="0">
                <a:solidFill>
                  <a:srgbClr val="B2C1D1"/>
                </a:solidFill>
                <a:latin typeface="Calibri"/>
              </a:rPr>
              <a:t>execution</a:t>
            </a:r>
            <a:r>
              <a:rPr sz="1050" b="0" i="0" dirty="0">
                <a:solidFill>
                  <a:srgbClr val="B2C1D1"/>
                </a:solidFill>
                <a:latin typeface="Calibri"/>
              </a:rPr>
              <a:t> does not hide uncertainty. It isolates ambiguous merges, weak evidence, and low-coverage packages so review lands where it should.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486400" cy="4389120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82496"/>
            <a:ext cx="237744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59C8FF"/>
                </a:solidFill>
                <a:latin typeface="Calibri"/>
              </a:rPr>
              <a:t>Lowest-coverage packages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029968"/>
            <a:ext cx="0" cy="2971800"/>
          </a:xfrm>
          <a:prstGeom prst="line">
            <a:avLst/>
          </a:prstGeom>
          <a:ln w="12700">
            <a:solidFill>
              <a:srgbClr val="3557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5001768"/>
            <a:ext cx="4846320" cy="0"/>
          </a:xfrm>
          <a:prstGeom prst="line">
            <a:avLst/>
          </a:prstGeom>
          <a:ln w="12700">
            <a:solidFill>
              <a:srgbClr val="3557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2772918"/>
            <a:ext cx="4846320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3515868"/>
            <a:ext cx="4846320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" y="4258818"/>
            <a:ext cx="4846320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" y="5001768"/>
            <a:ext cx="4846320" cy="0"/>
          </a:xfrm>
          <a:prstGeom prst="line">
            <a:avLst/>
          </a:prstGeom>
          <a:ln w="6350">
            <a:solidFill>
              <a:srgbClr val="244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147023" y="3129076"/>
            <a:ext cx="504017" cy="1872691"/>
          </a:xfrm>
          <a:prstGeom prst="rect">
            <a:avLst/>
          </a:prstGeom>
          <a:solidFill>
            <a:srgbClr val="FF6C6C"/>
          </a:solidFill>
          <a:ln w="6350"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0447" y="2964484"/>
            <a:ext cx="577169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38344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PKG-029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6287" y="3041294"/>
            <a:ext cx="504017" cy="1960473"/>
          </a:xfrm>
          <a:prstGeom prst="rect">
            <a:avLst/>
          </a:prstGeom>
          <a:solidFill>
            <a:srgbClr val="FF8A72"/>
          </a:solidFill>
          <a:ln w="6350">
            <a:solidFill>
              <a:srgbClr val="FF8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79711" y="2876702"/>
            <a:ext cx="577169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" y="5038344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PKG-026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5551" y="2865729"/>
            <a:ext cx="504017" cy="2136038"/>
          </a:xfrm>
          <a:prstGeom prst="rect">
            <a:avLst/>
          </a:prstGeom>
          <a:solidFill>
            <a:srgbClr val="FFA07F"/>
          </a:solidFill>
          <a:ln w="6350">
            <a:solidFill>
              <a:srgbClr val="FFA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975" y="2701137"/>
            <a:ext cx="577169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5038344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PKG-013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54815" y="2807208"/>
            <a:ext cx="504017" cy="2194560"/>
          </a:xfrm>
          <a:prstGeom prst="rect">
            <a:avLst/>
          </a:prstGeom>
          <a:solidFill>
            <a:srgbClr val="FFB08C"/>
          </a:solidFill>
          <a:ln w="6350">
            <a:solidFill>
              <a:srgbClr val="FFB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18239" y="2642616"/>
            <a:ext cx="577169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1" y="5038344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PKG-011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4079" y="2719425"/>
            <a:ext cx="504017" cy="2282342"/>
          </a:xfrm>
          <a:prstGeom prst="rect">
            <a:avLst/>
          </a:prstGeom>
          <a:solidFill>
            <a:srgbClr val="FFC09C"/>
          </a:solidFill>
          <a:ln w="6350">
            <a:solidFill>
              <a:srgbClr val="FFC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87503" y="2554833"/>
            <a:ext cx="577169" cy="1280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20" b="1" i="0">
                <a:solidFill>
                  <a:srgbClr val="A6B5C6"/>
                </a:solidFill>
                <a:latin typeface="Calibri"/>
              </a:rPr>
              <a:t>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5038344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0">
                <a:solidFill>
                  <a:srgbClr val="A6B5C6"/>
                </a:solidFill>
                <a:latin typeface="Calibri"/>
              </a:rPr>
              <a:t>PKG-042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463040"/>
            <a:ext cx="5321808" cy="1975104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1682496"/>
            <a:ext cx="256032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59C8FF"/>
                </a:solidFill>
                <a:latin typeface="Calibri"/>
              </a:rPr>
              <a:t>Auditor / judge findings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956816"/>
            <a:ext cx="4892040" cy="1051570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0" bIns="0">
            <a:spAutoFit/>
          </a:bodyPr>
          <a:lstStyle/>
          <a:p>
            <a:pPr>
              <a:spcAft>
                <a:spcPts val="500"/>
              </a:spcAft>
              <a:defRPr sz="819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Ambiguous merges dominate the highest-risk cases.</a:t>
            </a:r>
          </a:p>
          <a:p>
            <a:pPr>
              <a:spcAft>
                <a:spcPts val="500"/>
              </a:spcAft>
              <a:defRPr sz="819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Several mentions require additional context or BOM or domain review to resolve confidently.</a:t>
            </a:r>
          </a:p>
          <a:p>
            <a:pPr>
              <a:spcAft>
                <a:spcPts val="500"/>
              </a:spcAft>
              <a:defRPr sz="819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The report makes remediation recommendations explicit, which supports escalation and planning.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5966" y="3858768"/>
            <a:ext cx="5321808" cy="1975104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913632"/>
            <a:ext cx="338328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59C8FF"/>
                </a:solidFill>
                <a:latin typeface="Calibri"/>
              </a:rPr>
              <a:t>Why this matters to a technical review audience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87952"/>
            <a:ext cx="4892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0" bIns="0">
            <a:spAutoFit/>
          </a:bodyPr>
          <a:lstStyle/>
          <a:p>
            <a:pPr>
              <a:spcAft>
                <a:spcPts val="500"/>
              </a:spcAft>
              <a:defRPr sz="819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Risk is routed before the data product reaches a wider audience.</a:t>
            </a:r>
          </a:p>
          <a:p>
            <a:pPr>
              <a:spcAft>
                <a:spcPts val="500"/>
              </a:spcAft>
              <a:defRPr sz="819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Low-confidence zones are measurable, which improves prioritization and transparency.</a:t>
            </a:r>
          </a:p>
          <a:p>
            <a:pPr>
              <a:spcAft>
                <a:spcPts val="500"/>
              </a:spcAft>
              <a:defRPr sz="819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The architecture supports iterative hardening instead of one-shot output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800">
                <a:solidFill>
                  <a:srgbClr val="8298B0"/>
                </a:solidFill>
                <a:latin typeface="Calibri"/>
              </a:rPr>
              <a:t>Europa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373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298B0"/>
                </a:solidFill>
                <a:latin typeface="Calibri"/>
              </a:rP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548640"/>
            <a:ext cx="11247120" cy="0"/>
          </a:xfrm>
          <a:prstGeom prst="line">
            <a:avLst/>
          </a:prstGeom>
          <a:ln w="12700">
            <a:solidFill>
              <a:srgbClr val="1D39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71323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5F8FC"/>
                </a:solidFill>
                <a:latin typeface="Calibri"/>
              </a:rPr>
              <a:t>What Europa Life demonstrates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B2C1D1"/>
                </a:solidFill>
                <a:latin typeface="Calibri"/>
              </a:rPr>
              <a:t>The project showcases architecture habits that transfer well across complex data environments.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03520" cy="4114800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54496" y="1554480"/>
            <a:ext cx="5303520" cy="4114800"/>
          </a:xfrm>
          <a:prstGeom prst="rect">
            <a:avLst/>
          </a:prstGeom>
          <a:solidFill>
            <a:srgbClr val="0C2441"/>
          </a:solidFill>
          <a:ln w="12700">
            <a:solidFill>
              <a:srgbClr val="29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41248" y="1783080"/>
            <a:ext cx="22860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9C8FF"/>
                </a:solidFill>
                <a:latin typeface="Calibri"/>
              </a:rPr>
              <a:t>Europa Life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1783080"/>
            <a:ext cx="256032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9C8FF"/>
                </a:solidFill>
                <a:latin typeface="Calibri"/>
              </a:rPr>
              <a:t>Architecture themes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03120"/>
            <a:ext cx="4617720" cy="1179810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0" bIns="0">
            <a:spAutoFit/>
          </a:bodyPr>
          <a:lstStyle/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Profiling and linking messy multi-source data.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Crosswalk-style entity resolution with provenance.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Visible DQ and trust instrumentation.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AI-assisted but reviewable interpretation.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Stakeholder-ready proof-of-concept artifacts and readouts</a:t>
            </a:r>
            <a:r>
              <a:rPr dirty="0"/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103120"/>
            <a:ext cx="4617720" cy="1179810"/>
          </a:xfrm>
          <a:prstGeom prst="rect">
            <a:avLst/>
          </a:prstGeom>
          <a:noFill/>
          <a:ln>
            <a:noFill/>
          </a:ln>
        </p:spPr>
        <p:txBody>
          <a:bodyPr wrap="square" lIns="25400" tIns="0" rIns="0" bIns="0">
            <a:spAutoFit/>
          </a:bodyPr>
          <a:lstStyle/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Schema analysis, data profiling, and complex data architecture.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Data linkages, crosswalk frameworks, and integration patterns.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Data quality, metadata, and lineage and provenance.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AI-enabled data assets with explainability in mind.</a:t>
            </a:r>
          </a:p>
          <a:p>
            <a:pPr>
              <a:spcAft>
                <a:spcPts val="500"/>
              </a:spcAft>
              <a:defRPr sz="910">
                <a:solidFill>
                  <a:srgbClr val="F5F8FC"/>
                </a:solidFill>
                <a:latin typeface="Calibri"/>
              </a:defRPr>
            </a:pPr>
            <a:r>
              <a:rPr sz="1200" dirty="0"/>
              <a:t>Presentations, recommendations, and technical assessments.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907024"/>
            <a:ext cx="108813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1">
                <a:solidFill>
                  <a:srgbClr val="B2C1D1"/>
                </a:solidFill>
                <a:latin typeface="Calibri"/>
              </a:rPr>
              <a:t>The project demonstrates a repeatable architecture posture: control ambiguity, instrument trust, and turn messy source material into reusable, explainable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Europa Life project"/>
        <a:font script="Hebr" typeface="Times New Europa Life project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Europa Life project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899</Words>
  <Application>Microsoft Office PowerPoint</Application>
  <PresentationFormat>Widescreen</PresentationFormat>
  <Paragraphs>154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Europa Life project</dc:creator>
  <cp:keywords/>
  <dc:description>Public case-study artifact for the Europa Life project</dc:description>
  <cp:lastModifiedBy>Europa Life project</cp:lastModifiedBy>
  <cp:revision>3</cp:revision>
  <dcterms:created xsi:type="dcterms:W3CDTF">2013-01-27T09:14:16Z</dcterms:created>
  <dcterms:modified xsi:type="dcterms:W3CDTF">2026-04-30T13:52:40Z</dcterms:modified>
  <cp:category/>
</cp:coreProperties>
</file>